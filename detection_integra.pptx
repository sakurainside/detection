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25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О ПРОДЕЛАННОЙ РАБОТЕ  • 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оставленных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предметов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традиционной видеоаналитике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анализа с помощью искусственного интеллекта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5486400"/>
            <a:ext cx="457200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3152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 системы видеонаблюдения  •  офис Интегры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аналитики ВПП  •  Мартынов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ИДЕЯ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проекта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58600" y="347472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традиционной видеоаналитике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оставленного предмета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371600" cy="0"/>
          </a:xfrm>
          <a:prstGeom prst="line">
            <a:avLst/>
          </a:prstGeom>
          <a:noFill/>
          <a:ln w="381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основе подхода — анализ изображения с помощью искусственного интеллекта (нейросети) вместо классических алгоритмов на правилах и фоновом вычитании.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устойчивее к смене освещения, теням, людям в кадре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Понимает, что именно оставлено — сумка, чемодан, рюкзак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Различает владельца и объект, оценивает их связь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1188720"/>
            <a:ext cx="4297680" cy="246888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7315200" y="1188720"/>
            <a:ext cx="73152" cy="246888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5438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Традиционный подход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17373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 фоновое вычитание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Чувствителен к свету и теням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отличает сумку от стула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ложных срабатываний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3794760"/>
            <a:ext cx="4297680" cy="246888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315200" y="3794760"/>
            <a:ext cx="73152" cy="2468880"/>
          </a:xfrm>
          <a:prstGeom prst="rect">
            <a:avLst/>
          </a:prstGeom>
          <a:solidFill>
            <a:srgbClr val="27C4A4"/>
          </a:solidFill>
          <a:ln w="12700">
            <a:solidFill>
              <a:srgbClr val="27C4A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54380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подход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43434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объектов на ИИ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Знает, что это сумка / чемодан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Связывает предмет и владельца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Ложных тревог в разы меньше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  •  Отчёт о проделанной работе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ЦЕЛИ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проекта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58600" y="347472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55448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" cy="15544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331720" y="14173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 качества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31720" y="1965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ложных тревог. Стабильное обнаружение оставленных сумок, чемоданов и рюкзаков в реальных условиях видеонаблюдения.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155448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09728" cy="1554480"/>
          </a:xfrm>
          <a:prstGeom prst="rect">
            <a:avLst/>
          </a:prstGeom>
          <a:solidFill>
            <a:srgbClr val="27C4A4"/>
          </a:solidFill>
          <a:ln w="12700">
            <a:solidFill>
              <a:srgbClr val="27C4A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68680" y="32461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7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331720" y="32004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ресурсоёмкости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31720" y="3749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нагрузки на сервер видеоаналитики: видеопамять, оперативная память, центральный процессор. Больше камер на одном сервере.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09728" cy="1554480"/>
          </a:xfrm>
          <a:prstGeom prst="rect">
            <a:avLst/>
          </a:prstGeom>
          <a:solidFill>
            <a:srgbClr val="4F9DDE"/>
          </a:solidFill>
          <a:ln w="12700">
            <a:solidFill>
              <a:srgbClr val="4F9D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F9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2331720" y="49834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 и развитие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331720" y="5532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в которой видеоаналитика отделена от оценки событий. Это упрощает развитие, замену моделей и подключение новых детекторов.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  •  Отчёт о проделанной работе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РАБОТЫ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58600" y="347472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72160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72160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Основа подхода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от ИИ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2644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основу взят анализ изображения с помощью нейросетевой модели распознавания объектов. Это даёт качественно другой уровень понимания сцены по сравнению с классическими алгоритмами.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372160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389120" y="1188720"/>
            <a:ext cx="372160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617720" y="1234440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Стенд для работ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 Интегры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3108960"/>
            <a:ext cx="32644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 стенд системы видеонаблюдения в офисе Интегры (направление аналитики ВПП — Мартынов). Реальные камеры, реальная сеть, реальные условия.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188720"/>
            <a:ext cx="372160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8229600" y="1188720"/>
            <a:ext cx="372160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458200" y="1234440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Данные для обучения</a:t>
            </a:r>
            <a:endParaRPr lang="en-US" sz="1200" dirty="0"/>
          </a:p>
          <a:p>
            <a:pPr marL="0" indent="0">
              <a:buNone/>
            </a:pPr>
            <a:r>
              <a:rPr lang="en-US" sz="1200" b="1" kern="0" spc="4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и оценки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2011680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из фойе офиса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03920" y="3108960"/>
            <a:ext cx="32644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обучения и оценки качества используется видео с камер фойе офиса. Это типовая сцена под целевую задачу: проходящие люди и оставленные вещи.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  •  Отчёт о проделанной работе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ПОДХОД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подход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58600" y="347472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Видеоаналитика и оценка событий — два разных процесса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03520" cy="402336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03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1.  Анализ кадров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смотрит каждый кадр и последовательность кадров. Распознаёт предметы и людей, отслеживает их во времени.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 выходе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Камера, на которой сработало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в кадре и координаты предмета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время события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Снимок-доказательство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5989320" y="3474720"/>
            <a:ext cx="457200" cy="457200"/>
          </a:xfrm>
          <a:prstGeom prst="rtTriangl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76072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691640"/>
            <a:ext cx="5303520" cy="402336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583680" y="1691640"/>
            <a:ext cx="5303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812280" y="1691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2.  Оценка событий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743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обрабатывает отдельный процесс. Решает, какие события важны, как их группировать, кому показывать.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разделение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4206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Гибкая логика тревог под объект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подключить ИИ-оценку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событий разных камер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без переделки видеоаналитики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  •  Отчёт о проделанной работе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РЕЗУЛЬТАТ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 •  качество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58600" y="347472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532120" cy="169164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109728" cy="169164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ДОРАБОТОК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ложные тревоги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Сломанные временны́е метки, низкие пороги уверенности, рассогласованное слежение, мерцающие мелкие объекты.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5532120" cy="1691640"/>
          </a:xfrm>
          <a:prstGeom prst="rect">
            <a:avLst/>
          </a:prstGeom>
          <a:solidFill>
            <a:srgbClr val="F4F7FE"/>
          </a:solidFill>
          <a:ln w="12700">
            <a:solidFill>
              <a:srgbClr val="F4F7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6263640" y="1143000"/>
            <a:ext cx="109728" cy="1691640"/>
          </a:xfrm>
          <a:prstGeom prst="rect">
            <a:avLst/>
          </a:prstGeom>
          <a:solidFill>
            <a:srgbClr val="27C4A4"/>
          </a:solidFill>
          <a:ln w="12700">
            <a:solidFill>
              <a:srgbClr val="27C4A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53796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7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ДОРАБОТОК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1691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Стабильное обнаружение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2240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Корректное время событий, согласованные пороги детектора и слежения, отсечены мелкие шумовые объекты.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улучшения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228600" cy="2286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Исправлена передача времени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9044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Временны́е метки кадров перестали приходить нулевыми — логика тревог по времени работает корректно.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228600" cy="2286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62940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Согласованы пороги уверенности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9044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Подобраны под реальные условия камер. Меньше ложных тревог, реальные сумки и чемоданы по-прежнему ловятся.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228600" cy="2286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14400" y="4480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Согласовано слежение за объектами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773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алгоритма слежения подогнаны к настройкам распознавания — пропали «фантомные» объекты.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4526280"/>
            <a:ext cx="228600" cy="2286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629400" y="4480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Отсечены мелкие шумовые объекты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4773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Поднят минимальный размер обнаруженного предмета, увеличено время удержания трека.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  •  Отчёт о проделанной работе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РЕСУРСЫ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 •  ресурсы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58600" y="347472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1080028"/>
            <a:ext cx="110642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ОРИЕНТИРОВОЧНАЯ НАГРУЗКА  •  10 КАМЕР  •  2 МП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</a:t>
            </a:r>
            <a:r>
              <a:rPr lang="ru-RU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Оперативная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(ОЗУ)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</a:t>
            </a:r>
            <a:r>
              <a:rPr lang="ru-RU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ГБ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Видеопамять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одной видеокарте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</a:t>
            </a:r>
            <a:r>
              <a:rPr lang="ru-RU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2423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центрального процессора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5256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сервер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52560" y="2423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 одного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сервера с видеокартой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традиционным подходом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64240" cy="2057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Показатель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Традиционный подход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Наш подход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Качество в реальных условиях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Чувствительно к свету, теням, людям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7C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Стабильно, объект понимается семантически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Видеопамять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Часто по экземпляру модели на поток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7C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Один общий движок на все камеры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Оперативная память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Копирование кадров между этапами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7C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Передача кадров по ссылке без копий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Развитие и интеграция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Логика вшита в детектор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7C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Аналитика и оценка событий разделены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  •  Отчёт о проделанной работе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337B6F-B0DD-012D-4E9A-DE7EB8EDE53F}"/>
              </a:ext>
            </a:extLst>
          </p:cNvPr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59E16F-31E6-AF4C-E97A-3E2AAE961A1A}"/>
              </a:ext>
            </a:extLst>
          </p:cNvPr>
          <p:cNvSpPr/>
          <p:nvPr/>
        </p:nvSpPr>
        <p:spPr>
          <a:xfrm>
            <a:off x="548640" y="15596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РЕСУРСЫ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FE2622-A3D2-D332-49F0-390F5B43BAE1}"/>
              </a:ext>
            </a:extLst>
          </p:cNvPr>
          <p:cNvSpPr/>
          <p:nvPr/>
        </p:nvSpPr>
        <p:spPr>
          <a:xfrm>
            <a:off x="548640" y="35713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 •  </a:t>
            </a:r>
            <a:r>
              <a:rPr lang="ru-RU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работы системы</a:t>
            </a:r>
            <a:endParaRPr lang="en-US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1273E4-F276-7168-E5A7-4F03699B7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71468"/>
            <a:ext cx="8370857" cy="41700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725E3C-6D84-24BF-1116-726A129E5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497" y="1516500"/>
            <a:ext cx="3184438" cy="3130828"/>
          </a:xfrm>
          <a:prstGeom prst="rect">
            <a:avLst/>
          </a:prstGeom>
        </p:spPr>
      </p:pic>
      <p:sp>
        <p:nvSpPr>
          <p:cNvPr id="8" name="Text 23">
            <a:extLst>
              <a:ext uri="{FF2B5EF4-FFF2-40B4-BE49-F238E27FC236}">
                <a16:creationId xmlns:a16="http://schemas.microsoft.com/office/drawing/2014/main" id="{DEBBEAC8-6B2A-4058-6529-62D0BA2A42EA}"/>
              </a:ext>
            </a:extLst>
          </p:cNvPr>
          <p:cNvSpPr/>
          <p:nvPr/>
        </p:nvSpPr>
        <p:spPr>
          <a:xfrm>
            <a:off x="6725153" y="56865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ru-RU" sz="1400" dirty="0"/>
              <a:t>Приведенные затраты ресурсов рассчитаны на основе работы 1 видеопотока </a:t>
            </a:r>
            <a:endParaRPr lang="en-US" sz="1400" dirty="0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B85166D9-7867-02BA-FF6B-34B1D4ABAC34}"/>
              </a:ext>
            </a:extLst>
          </p:cNvPr>
          <p:cNvSpPr/>
          <p:nvPr/>
        </p:nvSpPr>
        <p:spPr>
          <a:xfrm>
            <a:off x="6242074" y="5846552"/>
            <a:ext cx="228600" cy="2286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382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НАСТРОЙКА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 в схеме ситуационной аналитики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58600" y="347472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каждый объект и сценарий — свои настройки без пересборки системы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532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искать и где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предметов: что интересно, что игнорируем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Зоны интереса в кадре и зоны игнорирования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особенностей сцены (стенды, экраны, окна)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532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492240" y="15544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поднимать тревогу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времени предмет должен быть оставлен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каком расстоянии искать «владельца»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владелец должен отсутствовать рядом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532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особенностей камеры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пороги для разных зон кадра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перспективы и краёв изображения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размер объекта по типам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532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уходят события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6634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события в реальном времени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с разметкой найденных объектов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Снимок-доказательство для каждой тревоги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  •  Отчёт о проделанной работе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достигнуты, заложен новый подход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ПРОЕКТА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ложных тревог, стабильное обнаружение сумок и чемоданов на стенде.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ГБ ОЗУ и ~2 ГБ видеопамяти на 10 камер 2 МП — один сервер вместо нескольких.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оценка событий разделены — упрощено развитие и интеграция.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 •  НОВЫЙ ПОДХОД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423160"/>
            <a:ext cx="365760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1.  Анализ кадров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кадра и последовательности кадров → событие: камера, зона / координаты, время.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251960"/>
            <a:ext cx="365760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754880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2.  Оценка событий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4663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событий — отдельный процесс. На этом этапе подключается ИИ-оценка и корреляция.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42316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модели распознавания без правок в логике событий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ИИ-оценки на стороне событий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событий нескольких камер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окна кадров до и после тревоги для разбора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обученная модель под </a:t>
            </a:r>
            <a:r>
              <a:rPr lang="ru-RU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различные сцены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нейросети для распознавания что за конкретный объект оставлен в кадре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217920"/>
            <a:ext cx="36576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988</Words>
  <Application>Microsoft Office PowerPoint</Application>
  <PresentationFormat>Широкоэкранный</PresentationFormat>
  <Paragraphs>183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Отчёт. Детектор оставленных предметов</dc:title>
  <dc:subject>PptxGenJS Presentation</dc:subject>
  <dc:creator>Detection / Integra</dc:creator>
  <cp:lastModifiedBy>Egor Sobolev</cp:lastModifiedBy>
  <cp:revision>3</cp:revision>
  <dcterms:created xsi:type="dcterms:W3CDTF">2026-06-13T21:45:36Z</dcterms:created>
  <dcterms:modified xsi:type="dcterms:W3CDTF">2026-06-14T17:53:20Z</dcterms:modified>
</cp:coreProperties>
</file>